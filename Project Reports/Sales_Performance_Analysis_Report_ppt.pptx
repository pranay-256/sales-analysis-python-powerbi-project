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7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6B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842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C2DE-C735-C198-BBC9-16BE10F72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18FB1-7418-D816-9D45-7459BD059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24A62-6FD5-F8EB-ABD4-16A5965C7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35FDB-9881-3F74-4EC1-6E341DCC2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1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1498-3597-4307-A361-CD138307F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D3A83-AC4F-6E31-F312-3B0CE2766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408D2-6E09-90E2-9043-35E727B7C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A2B6E-896D-79BA-8479-8096C1F42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83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51A6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977640"/>
            <a:ext cx="2926080" cy="2926080"/>
          </a:xfrm>
          <a:prstGeom prst="ellipse">
            <a:avLst/>
          </a:prstGeom>
          <a:solidFill>
            <a:srgbClr val="1E1554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251960"/>
            <a:ext cx="2377440" cy="2377440"/>
          </a:xfrm>
          <a:prstGeom prst="arc">
            <a:avLst>
              <a:gd name="adj1" fmla="val 0"/>
              <a:gd name="adj2" fmla="val 13800000"/>
            </a:avLst>
          </a:prstGeom>
          <a:ln w="76200">
            <a:solidFill>
              <a:srgbClr val="2DE1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4251960"/>
            <a:ext cx="2377440" cy="2377440"/>
          </a:xfrm>
          <a:prstGeom prst="arc">
            <a:avLst>
              <a:gd name="adj1" fmla="val 14100000"/>
              <a:gd name="adj2" fmla="val 18000000"/>
            </a:avLst>
          </a:prstGeom>
          <a:ln w="76200">
            <a:solidFill>
              <a:srgbClr val="E8C3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0" y="4251960"/>
            <a:ext cx="2377440" cy="2377440"/>
          </a:xfrm>
          <a:prstGeom prst="arc">
            <a:avLst>
              <a:gd name="adj1" fmla="val 18300000"/>
              <a:gd name="adj2" fmla="val 21300000"/>
            </a:avLst>
          </a:prstGeom>
          <a:ln w="76200">
            <a:solidFill>
              <a:srgbClr val="F066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review of sales, profitability and customer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performance — with insights and recommendations.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989320"/>
            <a:ext cx="1005840" cy="0"/>
          </a:xfrm>
          <a:prstGeom prst="line">
            <a:avLst/>
          </a:prstGeom>
          <a:noFill/>
          <a:ln w="31750">
            <a:solidFill>
              <a:srgbClr val="2DE1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1081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Pranay  •  Data Analytics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segments, the company generated $118.73M in total sales at a 14.23% profit margin. The numbers below summarise overall performance before the segment-level insights that follow.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93392" cy="3246120"/>
          </a:xfrm>
          <a:prstGeom prst="roundRect">
            <a:avLst>
              <a:gd name="adj" fmla="val 5505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2728" y="2651760"/>
            <a:ext cx="585216" cy="5852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20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1792" y="44805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331720"/>
            <a:ext cx="1993392" cy="3246120"/>
          </a:xfrm>
          <a:prstGeom prst="roundRect">
            <a:avLst>
              <a:gd name="adj" fmla="val 5505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47288" y="2651760"/>
            <a:ext cx="585216" cy="585216"/>
          </a:xfrm>
          <a:prstGeom prst="ellipse">
            <a:avLst/>
          </a:prstGeom>
          <a:solidFill>
            <a:srgbClr val="C96B9A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20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💲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1635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$118.73M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16352" y="44805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1993392" cy="3246120"/>
          </a:xfrm>
          <a:prstGeom prst="roundRect">
            <a:avLst>
              <a:gd name="adj" fmla="val 5505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41848" y="2651760"/>
            <a:ext cx="585216" cy="58521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17" name="Text 15"/>
          <p:cNvSpPr/>
          <p:nvPr/>
        </p:nvSpPr>
        <p:spPr>
          <a:xfrm>
            <a:off x="564184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IN" sz="20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1091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$16.89M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10912" y="44805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0" y="2331720"/>
            <a:ext cx="1993392" cy="3246120"/>
          </a:xfrm>
          <a:prstGeom prst="roundRect">
            <a:avLst>
              <a:gd name="adj" fmla="val 5505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36408" y="2651760"/>
            <a:ext cx="585216" cy="585216"/>
          </a:xfrm>
          <a:prstGeom prst="ellipse">
            <a:avLst/>
          </a:prstGeom>
          <a:solidFill>
            <a:srgbClr val="F0665F"/>
          </a:solidFill>
          <a:ln/>
        </p:spPr>
      </p:sp>
      <p:sp>
        <p:nvSpPr>
          <p:cNvPr id="22" name="Text 20"/>
          <p:cNvSpPr/>
          <p:nvPr/>
        </p:nvSpPr>
        <p:spPr>
          <a:xfrm>
            <a:off x="783640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0547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14.23%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05472" y="44805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26880" y="2331720"/>
            <a:ext cx="1993392" cy="3246120"/>
          </a:xfrm>
          <a:prstGeom prst="roundRect">
            <a:avLst>
              <a:gd name="adj" fmla="val 5505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30968" y="2651760"/>
            <a:ext cx="585216" cy="585216"/>
          </a:xfrm>
          <a:prstGeom prst="ellipse">
            <a:avLst/>
          </a:prstGeom>
          <a:solidFill>
            <a:srgbClr val="2DE1C2"/>
          </a:solidFill>
          <a:ln/>
        </p:spPr>
      </p:sp>
      <p:sp>
        <p:nvSpPr>
          <p:cNvPr id="27" name="Text 25"/>
          <p:cNvSpPr/>
          <p:nvPr/>
        </p:nvSpPr>
        <p:spPr>
          <a:xfrm>
            <a:off x="1003096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400032" y="35661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400032" y="448056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A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Power BI, the dashboard lets viewers slice sales by customer segment and year, then explore performance by country, discount band, product and month.</a:t>
            </a:r>
            <a:endParaRPr lang="en-US" sz="1350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E912D9-2C2C-71B0-E82F-144B27FA4191}"/>
              </a:ext>
            </a:extLst>
          </p:cNvPr>
          <p:cNvGrpSpPr/>
          <p:nvPr/>
        </p:nvGrpSpPr>
        <p:grpSpPr>
          <a:xfrm>
            <a:off x="548640" y="2040199"/>
            <a:ext cx="9083040" cy="4570913"/>
            <a:chOff x="2328966" y="1984248"/>
            <a:chExt cx="7533764" cy="4306824"/>
          </a:xfrm>
        </p:grpSpPr>
        <p:sp>
          <p:nvSpPr>
            <p:cNvPr id="5" name="Shape 3"/>
            <p:cNvSpPr/>
            <p:nvPr/>
          </p:nvSpPr>
          <p:spPr>
            <a:xfrm>
              <a:off x="2328966" y="1984248"/>
              <a:ext cx="7533764" cy="4306824"/>
            </a:xfrm>
            <a:prstGeom prst="roundRect">
              <a:avLst>
                <a:gd name="adj" fmla="val 1699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52400" dist="50800" dir="5400000" algn="bl" rotWithShape="0">
                <a:srgbClr val="000000">
                  <a:alpha val="40000"/>
                </a:srgbClr>
              </a:outerShdw>
            </a:effectLst>
          </p:spPr>
        </p:sp>
        <p:pic>
          <p:nvPicPr>
            <p:cNvPr id="6" name="Image 0" descr="/mnt/user-data/uploads/1787131787676_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2118" y="2057400"/>
              <a:ext cx="7387460" cy="4160520"/>
            </a:xfrm>
            <a:prstGeom prst="rect">
              <a:avLst/>
            </a:prstGeom>
          </p:spPr>
        </p:pic>
      </p:grp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C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Paseo, VTT and Velo Lead Every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760720" cy="3131324"/>
          </a:xfrm>
          <a:prstGeom prst="roundRect">
            <a:avLst>
              <a:gd name="adj" fmla="val 2336"/>
            </a:avLst>
          </a:prstGeom>
          <a:solidFill>
            <a:srgbClr val="1E1554"/>
          </a:solidFill>
          <a:ln w="12700">
            <a:solidFill>
              <a:srgbClr val="3A2E7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/mnt/user-data/uploads/178713187205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577840" cy="29484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77724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Product-wise total sales, all segments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37960" y="1783080"/>
            <a:ext cx="5074920" cy="1996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leaders across every country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Paseo, VTT and Velo are the top-selling products in every country covered by the dashboard, not just on average — the same three products lead the ranking wherever you look.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0B8899-54E3-266E-A806-FC6740EFF031}"/>
              </a:ext>
            </a:extLst>
          </p:cNvPr>
          <p:cNvGrpSpPr/>
          <p:nvPr/>
        </p:nvGrpSpPr>
        <p:grpSpPr>
          <a:xfrm>
            <a:off x="6537960" y="3992880"/>
            <a:ext cx="5074920" cy="2316480"/>
            <a:chOff x="6537960" y="3657600"/>
            <a:chExt cx="5074920" cy="2103120"/>
          </a:xfrm>
        </p:grpSpPr>
        <p:sp>
          <p:nvSpPr>
            <p:cNvPr id="8" name="Shape 5"/>
            <p:cNvSpPr/>
            <p:nvPr/>
          </p:nvSpPr>
          <p:spPr>
            <a:xfrm>
              <a:off x="6537960" y="3657600"/>
              <a:ext cx="5074920" cy="2103120"/>
            </a:xfrm>
            <a:prstGeom prst="roundRect">
              <a:avLst>
                <a:gd name="adj" fmla="val 4348"/>
              </a:avLst>
            </a:prstGeom>
            <a:solidFill>
              <a:srgbClr val="1E1554"/>
            </a:solidFill>
            <a:ln/>
          </p:spPr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DEB92A6-C384-3099-4C6B-28781C272682}"/>
                </a:ext>
              </a:extLst>
            </p:cNvPr>
            <p:cNvGrpSpPr/>
            <p:nvPr/>
          </p:nvGrpSpPr>
          <p:grpSpPr>
            <a:xfrm>
              <a:off x="6812280" y="3840480"/>
              <a:ext cx="4526280" cy="1783080"/>
              <a:chOff x="6812280" y="3840480"/>
              <a:chExt cx="4526280" cy="1783080"/>
            </a:xfrm>
          </p:grpSpPr>
          <p:sp>
            <p:nvSpPr>
              <p:cNvPr id="9" name="Text 6"/>
              <p:cNvSpPr/>
              <p:nvPr/>
            </p:nvSpPr>
            <p:spPr>
              <a:xfrm>
                <a:off x="6812280" y="3840480"/>
                <a:ext cx="45262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E8C34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What this means</a:t>
                </a:r>
                <a:endParaRPr lang="en-US" sz="1600" dirty="0"/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6812280" y="4206240"/>
                <a:ext cx="4526280" cy="1417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Paseo alone sells roughly 50% more than the next-closest product, making it the clear flagship item. Montana and Carretera consistently trail behind, indicating room to grow their share through targeted promotion.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FBDDF-953D-1A9D-0028-2298E12E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1892F1-65C8-32FE-CE0E-48D935268178}"/>
              </a:ext>
            </a:extLst>
          </p:cNvPr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 Part 1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F4BD73-F333-80FE-3E36-96B54F5F0E84}"/>
              </a:ext>
            </a:extLst>
          </p:cNvPr>
          <p:cNvSpPr/>
          <p:nvPr/>
        </p:nvSpPr>
        <p:spPr>
          <a:xfrm>
            <a:off x="548640" y="658368"/>
            <a:ext cx="1109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and Small Business Lead on Sales - Government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D53C4D-E7BA-C17D-4EF9-A59EB8B6A59E}"/>
              </a:ext>
            </a:extLst>
          </p:cNvPr>
          <p:cNvSpPr/>
          <p:nvPr/>
        </p:nvSpPr>
        <p:spPr>
          <a:xfrm>
            <a:off x="548640" y="13533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filtering reveals which customer groups combine strong sales with strong profitability.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01AD41-3350-BD4A-EFE6-E774BB879833}"/>
              </a:ext>
            </a:extLst>
          </p:cNvPr>
          <p:cNvGrpSpPr/>
          <p:nvPr/>
        </p:nvGrpSpPr>
        <p:grpSpPr>
          <a:xfrm>
            <a:off x="493776" y="1911096"/>
            <a:ext cx="9747504" cy="4638598"/>
            <a:chOff x="493776" y="1911096"/>
            <a:chExt cx="5184648" cy="2971242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B8C464BA-F31D-9959-E252-D49CB4D0FCCE}"/>
                </a:ext>
              </a:extLst>
            </p:cNvPr>
            <p:cNvSpPr/>
            <p:nvPr/>
          </p:nvSpPr>
          <p:spPr>
            <a:xfrm>
              <a:off x="493776" y="1911096"/>
              <a:ext cx="5184648" cy="2971242"/>
            </a:xfrm>
            <a:prstGeom prst="roundRect">
              <a:avLst>
                <a:gd name="adj" fmla="val 1847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30000"/>
                </a:srgbClr>
              </a:outerShdw>
            </a:effectLst>
          </p:spPr>
        </p:sp>
        <p:pic>
          <p:nvPicPr>
            <p:cNvPr id="6" name="Image 0" descr="/mnt/user-data/uploads/1787132030521_image.png">
              <a:extLst>
                <a:ext uri="{FF2B5EF4-FFF2-40B4-BE49-F238E27FC236}">
                  <a16:creationId xmlns:a16="http://schemas.microsoft.com/office/drawing/2014/main" id="{828EE291-6165-0C17-EE33-E0BCA093F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965960"/>
              <a:ext cx="5074920" cy="2861514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7F8B45-057A-6416-ADF6-D03A9BD0415A}"/>
              </a:ext>
            </a:extLst>
          </p:cNvPr>
          <p:cNvGrpSpPr/>
          <p:nvPr/>
        </p:nvGrpSpPr>
        <p:grpSpPr>
          <a:xfrm>
            <a:off x="10344428" y="1911096"/>
            <a:ext cx="1679932" cy="2701544"/>
            <a:chOff x="548641" y="5056074"/>
            <a:chExt cx="5074920" cy="8686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3C914E26-2FA5-D811-A458-DFF41AB2A04B}"/>
                </a:ext>
              </a:extLst>
            </p:cNvPr>
            <p:cNvSpPr/>
            <p:nvPr/>
          </p:nvSpPr>
          <p:spPr>
            <a:xfrm>
              <a:off x="548641" y="5056074"/>
              <a:ext cx="5074920" cy="868680"/>
            </a:xfrm>
            <a:prstGeom prst="roundRect">
              <a:avLst>
                <a:gd name="adj" fmla="val 8421"/>
              </a:avLst>
            </a:prstGeom>
            <a:solidFill>
              <a:srgbClr val="1E1554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78BED39A-27FB-4F05-481C-B3CE3236D9FF}"/>
                </a:ext>
              </a:extLst>
            </p:cNvPr>
            <p:cNvSpPr/>
            <p:nvPr/>
          </p:nvSpPr>
          <p:spPr>
            <a:xfrm>
              <a:off x="777240" y="5129226"/>
              <a:ext cx="4617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Government segment</a:t>
              </a:r>
              <a:endParaRPr lang="en-US" sz="20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1D7D6D2B-3F3C-9CA3-234F-27D5F7C9EFCD}"/>
                </a:ext>
              </a:extLst>
            </p:cNvPr>
            <p:cNvSpPr/>
            <p:nvPr/>
          </p:nvSpPr>
          <p:spPr>
            <a:xfrm>
              <a:off x="777240" y="5440122"/>
              <a:ext cx="46177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 $52.5M   |   </a:t>
              </a:r>
              <a:r>
                <a:rPr lang="en-US" sz="1600" b="1" dirty="0">
                  <a:solidFill>
                    <a:srgbClr val="E8C3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 21.69%</a:t>
              </a:r>
              <a:endParaRPr lang="en-US" sz="1600" dirty="0"/>
            </a:p>
          </p:txBody>
        </p:sp>
      </p:grpSp>
      <p:sp>
        <p:nvSpPr>
          <p:cNvPr id="15" name="Text 11">
            <a:extLst>
              <a:ext uri="{FF2B5EF4-FFF2-40B4-BE49-F238E27FC236}">
                <a16:creationId xmlns:a16="http://schemas.microsoft.com/office/drawing/2014/main" id="{5D7FD9DD-51E1-7F2F-E7CF-F9086A734B0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509208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0A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00EFC-208B-B9F2-139E-0F813EB9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ACB89D-025A-A9B6-A48D-D583A3CED441}"/>
              </a:ext>
            </a:extLst>
          </p:cNvPr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 Part 2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099944-D576-22DD-DB17-D0E420E3A7DB}"/>
              </a:ext>
            </a:extLst>
          </p:cNvPr>
          <p:cNvSpPr/>
          <p:nvPr/>
        </p:nvSpPr>
        <p:spPr>
          <a:xfrm>
            <a:off x="548640" y="658368"/>
            <a:ext cx="1126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and Small Business Lead on Sales – Small Business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1A9108-8BAC-663A-4FBB-26561EF02D03}"/>
              </a:ext>
            </a:extLst>
          </p:cNvPr>
          <p:cNvSpPr/>
          <p:nvPr/>
        </p:nvSpPr>
        <p:spPr>
          <a:xfrm>
            <a:off x="548640" y="135331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filtering reveals which customer groups combine strong sales with strong profitability.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C6235B-924D-FB08-6FD9-B15D43E18664}"/>
              </a:ext>
            </a:extLst>
          </p:cNvPr>
          <p:cNvGrpSpPr/>
          <p:nvPr/>
        </p:nvGrpSpPr>
        <p:grpSpPr>
          <a:xfrm>
            <a:off x="493776" y="1911096"/>
            <a:ext cx="9747504" cy="4638598"/>
            <a:chOff x="493776" y="1911096"/>
            <a:chExt cx="5184648" cy="2971242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607A2ADE-8CE3-82DE-9C6C-6AD30C3B03FA}"/>
                </a:ext>
              </a:extLst>
            </p:cNvPr>
            <p:cNvSpPr/>
            <p:nvPr/>
          </p:nvSpPr>
          <p:spPr>
            <a:xfrm>
              <a:off x="493776" y="1911096"/>
              <a:ext cx="5184648" cy="2971242"/>
            </a:xfrm>
            <a:prstGeom prst="roundRect">
              <a:avLst>
                <a:gd name="adj" fmla="val 1847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30000"/>
                </a:srgbClr>
              </a:outerShdw>
            </a:effectLst>
          </p:spPr>
        </p:sp>
        <p:pic>
          <p:nvPicPr>
            <p:cNvPr id="6" name="Image 0" descr="/mnt/user-data/uploads/1787132030521_image.png">
              <a:extLst>
                <a:ext uri="{FF2B5EF4-FFF2-40B4-BE49-F238E27FC236}">
                  <a16:creationId xmlns:a16="http://schemas.microsoft.com/office/drawing/2014/main" id="{5CCCC078-01DB-F764-1BFD-7175A5FD0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965960"/>
              <a:ext cx="5074920" cy="2861514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6DD6ED3-204F-F069-3657-97A500F3BD9A}"/>
              </a:ext>
            </a:extLst>
          </p:cNvPr>
          <p:cNvGrpSpPr/>
          <p:nvPr/>
        </p:nvGrpSpPr>
        <p:grpSpPr>
          <a:xfrm>
            <a:off x="10344428" y="1911096"/>
            <a:ext cx="1679932" cy="2701544"/>
            <a:chOff x="548641" y="5056074"/>
            <a:chExt cx="5074920" cy="868680"/>
          </a:xfrm>
        </p:grpSpPr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0A2012E9-C43B-46C1-C1B9-0918FB0E79BA}"/>
                </a:ext>
              </a:extLst>
            </p:cNvPr>
            <p:cNvSpPr/>
            <p:nvPr/>
          </p:nvSpPr>
          <p:spPr>
            <a:xfrm>
              <a:off x="548641" y="5056074"/>
              <a:ext cx="5074920" cy="868680"/>
            </a:xfrm>
            <a:prstGeom prst="roundRect">
              <a:avLst>
                <a:gd name="adj" fmla="val 8421"/>
              </a:avLst>
            </a:prstGeom>
            <a:solidFill>
              <a:srgbClr val="1E1554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17C05365-17C9-E2E0-F051-584BF8D723D9}"/>
                </a:ext>
              </a:extLst>
            </p:cNvPr>
            <p:cNvSpPr/>
            <p:nvPr/>
          </p:nvSpPr>
          <p:spPr>
            <a:xfrm>
              <a:off x="777240" y="5129226"/>
              <a:ext cx="46177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Small Business segment</a:t>
              </a:r>
              <a:endParaRPr lang="en-US" sz="200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C25657C5-5E4D-CE7B-756D-8774238F5B12}"/>
                </a:ext>
              </a:extLst>
            </p:cNvPr>
            <p:cNvSpPr/>
            <p:nvPr/>
          </p:nvSpPr>
          <p:spPr>
            <a:xfrm>
              <a:off x="777240" y="5440122"/>
              <a:ext cx="46177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 $42.43M   |   </a:t>
              </a:r>
              <a:r>
                <a:rPr lang="en-US" sz="1600" b="1" dirty="0">
                  <a:solidFill>
                    <a:srgbClr val="E8C3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 9.77%</a:t>
              </a:r>
              <a:endParaRPr lang="en-US" sz="1600" dirty="0"/>
            </a:p>
          </p:txBody>
        </p:sp>
      </p:grpSp>
      <p:sp>
        <p:nvSpPr>
          <p:cNvPr id="15" name="Text 11">
            <a:extLst>
              <a:ext uri="{FF2B5EF4-FFF2-40B4-BE49-F238E27FC236}">
                <a16:creationId xmlns:a16="http://schemas.microsoft.com/office/drawing/2014/main" id="{1B553163-BCB1-37BE-EF53-4FE96EAE955A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8" name="Image 0" descr="/mnt/user-data/uploads/1787132281774_image.png">
            <a:extLst>
              <a:ext uri="{FF2B5EF4-FFF2-40B4-BE49-F238E27FC236}">
                <a16:creationId xmlns:a16="http://schemas.microsoft.com/office/drawing/2014/main" id="{78F1B31D-6C14-1F9E-5A0C-49FDC65BC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24" y="1986839"/>
            <a:ext cx="9541208" cy="44772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402840-97C9-971C-9D07-A2D6969E8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24" y="1996749"/>
            <a:ext cx="9541208" cy="44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8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66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Enterprise Segment Is Running at a Loss</a:t>
            </a:r>
            <a:endParaRPr lang="en-US" sz="30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3C2A6C1-D0F4-49DD-4C03-385D9C4D3F3E}"/>
              </a:ext>
            </a:extLst>
          </p:cNvPr>
          <p:cNvGrpSpPr/>
          <p:nvPr/>
        </p:nvGrpSpPr>
        <p:grpSpPr>
          <a:xfrm>
            <a:off x="493776" y="1636776"/>
            <a:ext cx="7857744" cy="4957064"/>
            <a:chOff x="493776" y="1636776"/>
            <a:chExt cx="6053328" cy="3784882"/>
          </a:xfrm>
        </p:grpSpPr>
        <p:sp>
          <p:nvSpPr>
            <p:cNvPr id="4" name="Shape 2"/>
            <p:cNvSpPr/>
            <p:nvPr/>
          </p:nvSpPr>
          <p:spPr>
            <a:xfrm>
              <a:off x="493776" y="1636776"/>
              <a:ext cx="6053328" cy="3428266"/>
            </a:xfrm>
            <a:prstGeom prst="roundRect">
              <a:avLst>
                <a:gd name="adj" fmla="val 1600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30000"/>
                </a:srgbClr>
              </a:outerShdw>
            </a:effectLst>
          </p:spPr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C578E17-8F74-A318-076A-6AA78C778B20}"/>
                </a:ext>
              </a:extLst>
            </p:cNvPr>
            <p:cNvGrpSpPr/>
            <p:nvPr/>
          </p:nvGrpSpPr>
          <p:grpSpPr>
            <a:xfrm>
              <a:off x="548640" y="1691640"/>
              <a:ext cx="5943600" cy="3730018"/>
              <a:chOff x="548640" y="1691640"/>
              <a:chExt cx="5943600" cy="3730018"/>
            </a:xfrm>
          </p:grpSpPr>
          <p:pic>
            <p:nvPicPr>
              <p:cNvPr id="5" name="Image 0" descr="/mnt/user-data/uploads/1787132281774_imag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8640" y="1691640"/>
                <a:ext cx="5943600" cy="3318538"/>
              </a:xfrm>
              <a:prstGeom prst="rect">
                <a:avLst/>
              </a:prstGeom>
            </p:spPr>
          </p:pic>
          <p:sp>
            <p:nvSpPr>
              <p:cNvPr id="6" name="Text 3"/>
              <p:cNvSpPr/>
              <p:nvPr/>
            </p:nvSpPr>
            <p:spPr>
              <a:xfrm>
                <a:off x="548640" y="5147338"/>
                <a:ext cx="594360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i="1" dirty="0">
                    <a:solidFill>
                      <a:srgbClr val="8E84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Enterprise segment, all years combined</a:t>
                </a:r>
                <a:endParaRPr lang="en-US" sz="1100" dirty="0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3D43FDB-4BA2-4120-F8A3-070D7CE095B6}"/>
              </a:ext>
            </a:extLst>
          </p:cNvPr>
          <p:cNvGrpSpPr/>
          <p:nvPr/>
        </p:nvGrpSpPr>
        <p:grpSpPr>
          <a:xfrm>
            <a:off x="8615680" y="1691640"/>
            <a:ext cx="2997200" cy="4343400"/>
            <a:chOff x="6812280" y="1691640"/>
            <a:chExt cx="4800600" cy="4343400"/>
          </a:xfrm>
        </p:grpSpPr>
        <p:sp>
          <p:nvSpPr>
            <p:cNvPr id="7" name="Shape 4"/>
            <p:cNvSpPr/>
            <p:nvPr/>
          </p:nvSpPr>
          <p:spPr>
            <a:xfrm>
              <a:off x="6812280" y="1691640"/>
              <a:ext cx="4800600" cy="960120"/>
            </a:xfrm>
            <a:prstGeom prst="roundRect">
              <a:avLst>
                <a:gd name="adj" fmla="val 7619"/>
              </a:avLst>
            </a:prstGeom>
            <a:solidFill>
              <a:srgbClr val="1E1554"/>
            </a:solidFill>
            <a:ln/>
          </p:spPr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1037132-1F35-DCEE-2A70-05C9A5032E9D}"/>
                </a:ext>
              </a:extLst>
            </p:cNvPr>
            <p:cNvGrpSpPr/>
            <p:nvPr/>
          </p:nvGrpSpPr>
          <p:grpSpPr>
            <a:xfrm>
              <a:off x="6812280" y="1764792"/>
              <a:ext cx="4800600" cy="4270248"/>
              <a:chOff x="6812280" y="1764792"/>
              <a:chExt cx="4800600" cy="4270248"/>
            </a:xfrm>
          </p:grpSpPr>
          <p:sp>
            <p:nvSpPr>
              <p:cNvPr id="15" name="Shape 12"/>
              <p:cNvSpPr/>
              <p:nvPr/>
            </p:nvSpPr>
            <p:spPr>
              <a:xfrm>
                <a:off x="6812280" y="3886200"/>
                <a:ext cx="4800600" cy="960120"/>
              </a:xfrm>
              <a:prstGeom prst="roundRect">
                <a:avLst>
                  <a:gd name="adj" fmla="val 7619"/>
                </a:avLst>
              </a:prstGeom>
              <a:solidFill>
                <a:srgbClr val="1E1554"/>
              </a:solidFill>
              <a:ln/>
            </p:spPr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38163EC-A495-CD6F-6AF2-BE4FDF8B8BAF}"/>
                  </a:ext>
                </a:extLst>
              </p:cNvPr>
              <p:cNvGrpSpPr/>
              <p:nvPr/>
            </p:nvGrpSpPr>
            <p:grpSpPr>
              <a:xfrm>
                <a:off x="6812280" y="1764792"/>
                <a:ext cx="4800600" cy="4270248"/>
                <a:chOff x="6812280" y="1764792"/>
                <a:chExt cx="4800600" cy="4270248"/>
              </a:xfrm>
            </p:grpSpPr>
            <p:sp>
              <p:nvSpPr>
                <p:cNvPr id="8" name="Text 5"/>
                <p:cNvSpPr/>
                <p:nvPr/>
              </p:nvSpPr>
              <p:spPr>
                <a:xfrm>
                  <a:off x="7040880" y="1783080"/>
                  <a:ext cx="1463040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50" b="1" dirty="0">
                      <a:solidFill>
                        <a:srgbClr val="FFC00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Overall</a:t>
                  </a:r>
                  <a:endParaRPr lang="en-US" sz="125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" name="Text 6"/>
                <p:cNvSpPr/>
                <p:nvPr/>
              </p:nvSpPr>
              <p:spPr>
                <a:xfrm>
                  <a:off x="8244323" y="1783080"/>
                  <a:ext cx="1903965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b="1" dirty="0">
                      <a:solidFill>
                        <a:schemeClr val="bg1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$19.61M</a:t>
                  </a:r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" name="Text 7"/>
                <p:cNvSpPr/>
                <p:nvPr/>
              </p:nvSpPr>
              <p:spPr>
                <a:xfrm>
                  <a:off x="10012680" y="1764792"/>
                  <a:ext cx="141732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r">
                    <a:buNone/>
                  </a:pPr>
                  <a:r>
                    <a:rPr lang="en-US" sz="1500" b="1" dirty="0">
                      <a:solidFill>
                        <a:srgbClr val="F0665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-3.13%
</a:t>
                  </a:r>
                  <a:endParaRPr lang="en-US" sz="1500" dirty="0"/>
                </a:p>
                <a:p>
                  <a:pPr marL="0" indent="0" algn="r">
                    <a:buNone/>
                  </a:pPr>
                  <a:r>
                    <a:rPr lang="en-US" sz="1000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loss of $614.55K</a:t>
                  </a:r>
                  <a:endParaRPr lang="en-US" sz="15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Shape 8"/>
                <p:cNvSpPr/>
                <p:nvPr/>
              </p:nvSpPr>
              <p:spPr>
                <a:xfrm>
                  <a:off x="6812280" y="2788920"/>
                  <a:ext cx="4800600" cy="960120"/>
                </a:xfrm>
                <a:prstGeom prst="roundRect">
                  <a:avLst>
                    <a:gd name="adj" fmla="val 7619"/>
                  </a:avLst>
                </a:prstGeom>
                <a:solidFill>
                  <a:srgbClr val="1E1554"/>
                </a:solidFill>
                <a:ln/>
              </p:spPr>
            </p:sp>
            <p:sp>
              <p:nvSpPr>
                <p:cNvPr id="12" name="Text 9"/>
                <p:cNvSpPr/>
                <p:nvPr/>
              </p:nvSpPr>
              <p:spPr>
                <a:xfrm>
                  <a:off x="7040880" y="2880360"/>
                  <a:ext cx="1463040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50" b="1" dirty="0">
                      <a:solidFill>
                        <a:srgbClr val="FFC00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2013</a:t>
                  </a:r>
                  <a:endParaRPr lang="en-US" sz="125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3" name="Text 10"/>
                <p:cNvSpPr/>
                <p:nvPr/>
              </p:nvSpPr>
              <p:spPr>
                <a:xfrm>
                  <a:off x="8244325" y="2880360"/>
                  <a:ext cx="1676917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800" b="1" dirty="0">
                      <a:solidFill>
                        <a:schemeClr val="bg1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$4.05M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Text 11"/>
                <p:cNvSpPr/>
                <p:nvPr/>
              </p:nvSpPr>
              <p:spPr>
                <a:xfrm>
                  <a:off x="10012680" y="2862072"/>
                  <a:ext cx="141732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r">
                    <a:buNone/>
                  </a:pPr>
                  <a:r>
                    <a:rPr lang="en-US" sz="1500" b="1" dirty="0">
                      <a:solidFill>
                        <a:srgbClr val="F0665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-4.78%
</a:t>
                  </a:r>
                  <a:endParaRPr lang="en-US" sz="1500" dirty="0"/>
                </a:p>
                <a:p>
                  <a:pPr marL="0" indent="0" algn="r">
                    <a:buNone/>
                  </a:pPr>
                  <a:r>
                    <a:rPr lang="en-US" sz="1000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loss of $193.76K</a:t>
                  </a:r>
                  <a:endParaRPr lang="en-US" sz="15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Text 13"/>
                <p:cNvSpPr/>
                <p:nvPr/>
              </p:nvSpPr>
              <p:spPr>
                <a:xfrm>
                  <a:off x="7040880" y="3977640"/>
                  <a:ext cx="1463040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250" b="1" dirty="0">
                      <a:solidFill>
                        <a:srgbClr val="FFC000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2014</a:t>
                  </a:r>
                  <a:endParaRPr lang="en-US" sz="125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7" name="Text 14"/>
                <p:cNvSpPr/>
                <p:nvPr/>
              </p:nvSpPr>
              <p:spPr>
                <a:xfrm>
                  <a:off x="8244325" y="3977640"/>
                  <a:ext cx="1903964" cy="7772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800" b="1" dirty="0">
                      <a:solidFill>
                        <a:schemeClr val="bg1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$15.56M</a:t>
                  </a:r>
                  <a:endParaRPr lang="en-US" sz="18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Text 15"/>
                <p:cNvSpPr/>
                <p:nvPr/>
              </p:nvSpPr>
              <p:spPr>
                <a:xfrm>
                  <a:off x="10012680" y="3959352"/>
                  <a:ext cx="1417320" cy="8229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r">
                    <a:buNone/>
                  </a:pPr>
                  <a:r>
                    <a:rPr lang="en-US" sz="1500" b="1" dirty="0">
                      <a:solidFill>
                        <a:srgbClr val="F0665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-2.70%
</a:t>
                  </a:r>
                  <a:endParaRPr lang="en-US" sz="1500" dirty="0"/>
                </a:p>
                <a:p>
                  <a:pPr marL="0" indent="0" algn="r">
                    <a:buNone/>
                  </a:pPr>
                  <a:r>
                    <a:rPr lang="en-US" sz="1000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loss of $420.79K</a:t>
                  </a:r>
                  <a:endParaRPr lang="en-US" sz="15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Text 16"/>
                <p:cNvSpPr/>
                <p:nvPr/>
              </p:nvSpPr>
              <p:spPr>
                <a:xfrm>
                  <a:off x="6812280" y="5029200"/>
                  <a:ext cx="4800600" cy="10058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>
                    <a:lnSpc>
                      <a:spcPct val="130000"/>
                    </a:lnSpc>
                    <a:buNone/>
                  </a:pPr>
                  <a:r>
                    <a:rPr lang="en-US" sz="1400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The loss margin narrowed from -4.78% in 2013 to -2.70% in 2014 — a sign of improvement, but the segment still needs cost control given how much sales volume it carries.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20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Partners Deliver the Highest Margin</a:t>
            </a:r>
            <a:endParaRPr lang="en-US" sz="3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8F53DF-0AD6-BBE6-C2C0-DB9DF00CA45C}"/>
              </a:ext>
            </a:extLst>
          </p:cNvPr>
          <p:cNvGrpSpPr/>
          <p:nvPr/>
        </p:nvGrpSpPr>
        <p:grpSpPr>
          <a:xfrm>
            <a:off x="493776" y="1591056"/>
            <a:ext cx="6323584" cy="5157216"/>
            <a:chOff x="493776" y="1591056"/>
            <a:chExt cx="5138928" cy="3261920"/>
          </a:xfrm>
        </p:grpSpPr>
        <p:sp>
          <p:nvSpPr>
            <p:cNvPr id="4" name="Shape 2"/>
            <p:cNvSpPr/>
            <p:nvPr/>
          </p:nvSpPr>
          <p:spPr>
            <a:xfrm>
              <a:off x="493776" y="1591056"/>
              <a:ext cx="5138928" cy="2932736"/>
            </a:xfrm>
            <a:prstGeom prst="roundRect">
              <a:avLst>
                <a:gd name="adj" fmla="val 1871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30000"/>
                </a:srgbClr>
              </a:outerShdw>
            </a:effectLst>
          </p:spPr>
        </p:sp>
        <p:pic>
          <p:nvPicPr>
            <p:cNvPr id="5" name="Image 0" descr="/mnt/user-data/uploads/1787132625389_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645920"/>
              <a:ext cx="5029200" cy="2823008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548640" y="4578656"/>
              <a:ext cx="5029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8E84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Channel Partners, 2014 snapshot</a:t>
              </a:r>
              <a:endParaRPr lang="en-US" sz="11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AB6E3C-4D49-76D6-72D2-733D3575B95D}"/>
              </a:ext>
            </a:extLst>
          </p:cNvPr>
          <p:cNvGrpSpPr/>
          <p:nvPr/>
        </p:nvGrpSpPr>
        <p:grpSpPr>
          <a:xfrm>
            <a:off x="6979920" y="1645920"/>
            <a:ext cx="4632960" cy="4978400"/>
            <a:chOff x="5943600" y="1645920"/>
            <a:chExt cx="5669280" cy="4095690"/>
          </a:xfrm>
        </p:grpSpPr>
        <p:sp>
          <p:nvSpPr>
            <p:cNvPr id="7" name="Shape 4"/>
            <p:cNvSpPr/>
            <p:nvPr/>
          </p:nvSpPr>
          <p:spPr>
            <a:xfrm>
              <a:off x="5943600" y="1645920"/>
              <a:ext cx="5669280" cy="1051560"/>
            </a:xfrm>
            <a:prstGeom prst="roundRect">
              <a:avLst>
                <a:gd name="adj" fmla="val 8696"/>
              </a:avLst>
            </a:prstGeom>
            <a:solidFill>
              <a:srgbClr val="1E1554"/>
            </a:solidFill>
            <a:ln/>
          </p:spPr>
        </p:sp>
        <p:sp>
          <p:nvSpPr>
            <p:cNvPr id="8" name="Text 5"/>
            <p:cNvSpPr/>
            <p:nvPr/>
          </p:nvSpPr>
          <p:spPr>
            <a:xfrm>
              <a:off x="5943600" y="1755648"/>
              <a:ext cx="1889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$1.8M</a:t>
              </a:r>
              <a:endParaRPr lang="en-US" sz="21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5943600" y="2212848"/>
              <a:ext cx="1889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B7AE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Sales</a:t>
              </a:r>
              <a:endParaRPr lang="en-US" sz="11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7833360" y="1755648"/>
              <a:ext cx="1889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$1.32M</a:t>
              </a:r>
              <a:endParaRPr lang="en-US" sz="21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833360" y="2212848"/>
              <a:ext cx="1889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B7AE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Profit</a:t>
              </a:r>
              <a:endParaRPr lang="en-US" sz="11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723120" y="1755648"/>
              <a:ext cx="1889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2DE1C2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73.13%</a:t>
              </a:r>
              <a:endParaRPr lang="en-US" sz="21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9723120" y="2212848"/>
              <a:ext cx="1889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dirty="0">
                  <a:solidFill>
                    <a:srgbClr val="B7AED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Profit Margin</a:t>
              </a:r>
              <a:endParaRPr lang="en-US" sz="11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943600" y="2880360"/>
              <a:ext cx="566928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25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Underlying record-level data (below) shows why: manufacturing cost for this segment is low relative to sale price, so even modest sales volume converts into strong profit.</a:t>
              </a:r>
              <a:endParaRPr lang="en-US" sz="1250" dirty="0">
                <a:solidFill>
                  <a:schemeClr val="bg1"/>
                </a:solidFill>
              </a:endParaRPr>
            </a:p>
          </p:txBody>
        </p:sp>
        <p:pic>
          <p:nvPicPr>
            <p:cNvPr id="16" name="Image 1" descr="/mnt/user-data/uploads/1787132788736_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3600" y="3611880"/>
              <a:ext cx="5669280" cy="2129730"/>
            </a:xfrm>
            <a:prstGeom prst="rect">
              <a:avLst/>
            </a:prstGeom>
          </p:spPr>
        </p:pic>
      </p:grpSp>
      <p:sp>
        <p:nvSpPr>
          <p:cNvPr id="17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F9FC829-BBC7-C5B2-8685-36ADB04A3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677798"/>
            <a:ext cx="6201209" cy="446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C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Discounted Products Drive the Bulk of Sales</a:t>
            </a:r>
            <a:endParaRPr lang="en-US" sz="3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845BC6-8091-8BA0-0D88-E8B8654C7DFE}"/>
              </a:ext>
            </a:extLst>
          </p:cNvPr>
          <p:cNvGrpSpPr/>
          <p:nvPr/>
        </p:nvGrpSpPr>
        <p:grpSpPr>
          <a:xfrm>
            <a:off x="731520" y="2011680"/>
            <a:ext cx="5313680" cy="4278959"/>
            <a:chOff x="731520" y="2011680"/>
            <a:chExt cx="4389120" cy="2799867"/>
          </a:xfrm>
        </p:grpSpPr>
        <p:sp>
          <p:nvSpPr>
            <p:cNvPr id="4" name="Shape 2"/>
            <p:cNvSpPr/>
            <p:nvPr/>
          </p:nvSpPr>
          <p:spPr>
            <a:xfrm>
              <a:off x="731520" y="2011680"/>
              <a:ext cx="4389120" cy="2434107"/>
            </a:xfrm>
            <a:prstGeom prst="roundRect">
              <a:avLst>
                <a:gd name="adj" fmla="val 3005"/>
              </a:avLst>
            </a:prstGeom>
            <a:solidFill>
              <a:srgbClr val="1E1554"/>
            </a:solidFill>
            <a:ln w="12700">
              <a:solidFill>
                <a:srgbClr val="3A2E7A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30000"/>
                </a:srgbClr>
              </a:outerShdw>
            </a:effectLst>
          </p:spPr>
        </p:sp>
        <p:pic>
          <p:nvPicPr>
            <p:cNvPr id="5" name="Image 0" descr="/mnt/user-data/uploads/1787132892909_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2103120"/>
              <a:ext cx="4206240" cy="2251227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731520" y="4537227"/>
              <a:ext cx="4389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8E84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sales by discount band, Channel Partners segment</a:t>
              </a:r>
              <a:endParaRPr lang="en-US" sz="11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0D9242-3263-2E0A-054B-5581EC082640}"/>
              </a:ext>
            </a:extLst>
          </p:cNvPr>
          <p:cNvGrpSpPr/>
          <p:nvPr/>
        </p:nvGrpSpPr>
        <p:grpSpPr>
          <a:xfrm>
            <a:off x="6299200" y="1757680"/>
            <a:ext cx="5313680" cy="4441952"/>
            <a:chOff x="5577840" y="2148840"/>
            <a:chExt cx="6035040" cy="4325112"/>
          </a:xfrm>
        </p:grpSpPr>
        <p:sp>
          <p:nvSpPr>
            <p:cNvPr id="7" name="Text 4"/>
            <p:cNvSpPr/>
            <p:nvPr/>
          </p:nvSpPr>
          <p:spPr>
            <a:xfrm>
              <a:off x="5577840" y="2148840"/>
              <a:ext cx="6035040" cy="1554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300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“None” band consistently trails
</a:t>
              </a:r>
              <a:endParaRPr lang="en-US" sz="1500" dirty="0"/>
            </a:p>
            <a:p>
              <a:pPr marL="0" indent="0">
                <a:lnSpc>
                  <a:spcPct val="130000"/>
                </a:lnSpc>
                <a:buNone/>
              </a:pPr>
              <a:r>
                <a:rPr lang="en-US" sz="1300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Products sold without any discount made up only 6.69% of total sales here — the smallest share of all four discount bands, well behind Medium (32.66%), High (31.48%) and Low (29.17%).</a:t>
              </a:r>
              <a:endParaRPr lang="en-US" sz="1500" dirty="0">
                <a:solidFill>
                  <a:schemeClr val="bg1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611487E-2F16-1238-291C-161806AC1617}"/>
                </a:ext>
              </a:extLst>
            </p:cNvPr>
            <p:cNvGrpSpPr/>
            <p:nvPr/>
          </p:nvGrpSpPr>
          <p:grpSpPr>
            <a:xfrm>
              <a:off x="5577840" y="3794760"/>
              <a:ext cx="6035040" cy="2679192"/>
              <a:chOff x="5577840" y="3794760"/>
              <a:chExt cx="6035040" cy="1737360"/>
            </a:xfrm>
          </p:grpSpPr>
          <p:sp>
            <p:nvSpPr>
              <p:cNvPr id="8" name="Shape 5"/>
              <p:cNvSpPr/>
              <p:nvPr/>
            </p:nvSpPr>
            <p:spPr>
              <a:xfrm>
                <a:off x="5577840" y="3794760"/>
                <a:ext cx="6035040" cy="1737360"/>
              </a:xfrm>
              <a:prstGeom prst="roundRect">
                <a:avLst>
                  <a:gd name="adj" fmla="val 5263"/>
                </a:avLst>
              </a:prstGeom>
              <a:solidFill>
                <a:srgbClr val="1E1554"/>
              </a:solidFill>
              <a:ln/>
            </p:spPr>
          </p:sp>
          <p:sp>
            <p:nvSpPr>
              <p:cNvPr id="9" name="Text 6"/>
              <p:cNvSpPr/>
              <p:nvPr/>
            </p:nvSpPr>
            <p:spPr>
              <a:xfrm>
                <a:off x="5852160" y="3977640"/>
                <a:ext cx="548640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E8C34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What this means</a:t>
                </a:r>
                <a:endParaRPr lang="en-US" sz="1600" dirty="0"/>
              </a:p>
            </p:txBody>
          </p:sp>
          <p:sp>
            <p:nvSpPr>
              <p:cNvPr id="10" name="Text 7"/>
              <p:cNvSpPr/>
              <p:nvPr/>
            </p:nvSpPr>
            <p:spPr>
              <a:xfrm>
                <a:off x="5852160" y="4315968"/>
                <a:ext cx="548640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This pattern holds across the dashboard — undiscounted products consistently add the least value to total revenue, which suggests discounting plays a real role in converting demand rather than just eating into margin.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1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BF64E9-ACB9-CD17-52A4-E1227B56A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22" y="2151426"/>
            <a:ext cx="5092277" cy="3440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Focus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1554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E8C34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801368"/>
            <a:ext cx="3840480" cy="1472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products Montana and Carretera through ad campaigns or targeted discounts to close the gap with the top-selling products.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1554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874520"/>
            <a:ext cx="548640" cy="548640"/>
          </a:xfrm>
          <a:prstGeom prst="ellipse">
            <a:avLst/>
          </a:prstGeom>
          <a:solidFill>
            <a:srgbClr val="F0665F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1801368"/>
            <a:ext cx="3840480" cy="1472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manufacturing and other costs in the Enterprise segment — it carries a major share of total sales, so fixing its margin will create a great positive impact.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1554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2DE1C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950208"/>
            <a:ext cx="3840480" cy="1472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marketing for Channel Partners. Its profit margin is already the highest of any segment, so growing its sales volume is highly efficient.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89320" y="3749040"/>
            <a:ext cx="5120640" cy="1874520"/>
          </a:xfrm>
          <a:prstGeom prst="roundRect">
            <a:avLst>
              <a:gd name="adj" fmla="val 4878"/>
            </a:avLst>
          </a:prstGeom>
          <a:solidFill>
            <a:srgbClr val="1E1554"/>
          </a:solidFill>
          <a:ln/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4023360"/>
            <a:ext cx="548640" cy="548640"/>
          </a:xfrm>
          <a:prstGeom prst="ellipse">
            <a:avLst/>
          </a:prstGeom>
          <a:solidFill>
            <a:srgbClr val="3E8EF0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0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3950208"/>
            <a:ext cx="3840480" cy="1472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at least a low discount on products rather than none — undiscounted items consistently add the least value to total revenue.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251A6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E155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E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Project Report  •  $118.73M total sales at a 14.23% profit margin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Pranay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694</Words>
  <Application>Microsoft Office PowerPoint</Application>
  <PresentationFormat>Widescreen</PresentationFormat>
  <Paragraphs>111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Pranay Jha</cp:lastModifiedBy>
  <cp:revision>2</cp:revision>
  <dcterms:created xsi:type="dcterms:W3CDTF">2026-08-19T10:01:57Z</dcterms:created>
  <dcterms:modified xsi:type="dcterms:W3CDTF">2026-08-19T11:31:49Z</dcterms:modified>
</cp:coreProperties>
</file>